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d1aafeca2243ff" /><Relationship Type="http://schemas.openxmlformats.org/officeDocument/2006/relationships/extended-properties" Target="/docProps/app.xml" Id="R11dd5de76bb24dce" /><Relationship Type="http://schemas.openxmlformats.org/officeDocument/2006/relationships/officeDocument" Target="/ppt/presentation.xml" Id="R30c0e6c5221d49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197ef89c474d0a"/>
  </p:sldMasterIdLst>
  <p:notesMasterIdLst>
    <p:notesMasterId xmlns:r="http://schemas.openxmlformats.org/officeDocument/2006/relationships" r:id="R1c1d96b9be0943bc"/>
  </p:notesMasterIdLst>
  <p:sldIdLst>
    <p:sldId xmlns:r="http://schemas.openxmlformats.org/officeDocument/2006/relationships" id="256" r:id="R1419be4ea9d34cff"/>
    <p:sldId xmlns:r="http://schemas.openxmlformats.org/officeDocument/2006/relationships" id="257" r:id="R21ba6a434076421c"/>
    <p:sldId xmlns:r="http://schemas.openxmlformats.org/officeDocument/2006/relationships" id="258" r:id="Re8d734f3ad224263"/>
    <p:sldId xmlns:r="http://schemas.openxmlformats.org/officeDocument/2006/relationships" id="259" r:id="R5ff441a6f84f4c29"/>
    <p:sldId xmlns:r="http://schemas.openxmlformats.org/officeDocument/2006/relationships" id="260" r:id="R9e1a5abdccfe42ea"/>
    <p:sldId xmlns:r="http://schemas.openxmlformats.org/officeDocument/2006/relationships" id="261" r:id="Rb224f76ad981473b"/>
    <p:sldId xmlns:r="http://schemas.openxmlformats.org/officeDocument/2006/relationships" id="262" r:id="R8dff3b2dc0c74054"/>
    <p:sldId xmlns:r="http://schemas.openxmlformats.org/officeDocument/2006/relationships" id="263" r:id="R39a6097fd48240e9"/>
    <p:sldId xmlns:r="http://schemas.openxmlformats.org/officeDocument/2006/relationships" id="264" r:id="Rf39253b7295b4407"/>
    <p:sldId xmlns:r="http://schemas.openxmlformats.org/officeDocument/2006/relationships" id="265" r:id="Ra8011db8d4ef4935"/>
    <p:sldId xmlns:r="http://schemas.openxmlformats.org/officeDocument/2006/relationships" id="266" r:id="R7f040026bd4f4762"/>
    <p:sldId xmlns:r="http://schemas.openxmlformats.org/officeDocument/2006/relationships" id="267" r:id="R5ef1200b51e74ede"/>
    <p:sldId xmlns:r="http://schemas.openxmlformats.org/officeDocument/2006/relationships" id="268" r:id="Rf504744595204439"/>
    <p:sldId xmlns:r="http://schemas.openxmlformats.org/officeDocument/2006/relationships" id="269" r:id="R81d00aebdb1542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7d0d06a0c54305" /><Relationship Type="http://schemas.openxmlformats.org/officeDocument/2006/relationships/slideMaster" Target="/ppt/slideMasters/slideMaster1.xml" Id="R19197ef89c474d0a" /><Relationship Type="http://schemas.openxmlformats.org/officeDocument/2006/relationships/notesMaster" Target="/ppt/notesMasters/notesMaster1.xml" Id="R1c1d96b9be0943bc" /><Relationship Type="http://schemas.openxmlformats.org/officeDocument/2006/relationships/presProps" Target="/ppt/presProps.xml" Id="R2992c56b5bcd46cb" /><Relationship Type="http://schemas.openxmlformats.org/officeDocument/2006/relationships/tableStyles" Target="/ppt/tableStyles.xml" Id="Ref54230efa9e4fca" /><Relationship Type="http://schemas.openxmlformats.org/officeDocument/2006/relationships/slide" Target="/ppt/slides/slide1.xml" Id="R1419be4ea9d34cff" /><Relationship Type="http://schemas.openxmlformats.org/officeDocument/2006/relationships/slide" Target="/ppt/slides/slide2.xml" Id="R21ba6a434076421c" /><Relationship Type="http://schemas.openxmlformats.org/officeDocument/2006/relationships/slide" Target="/ppt/slides/slide3.xml" Id="Re8d734f3ad224263" /><Relationship Type="http://schemas.openxmlformats.org/officeDocument/2006/relationships/slide" Target="/ppt/slides/slide4.xml" Id="R5ff441a6f84f4c29" /><Relationship Type="http://schemas.openxmlformats.org/officeDocument/2006/relationships/slide" Target="/ppt/slides/slide5.xml" Id="R9e1a5abdccfe42ea" /><Relationship Type="http://schemas.openxmlformats.org/officeDocument/2006/relationships/slide" Target="/ppt/slides/slide6.xml" Id="Rb224f76ad981473b" /><Relationship Type="http://schemas.openxmlformats.org/officeDocument/2006/relationships/slide" Target="/ppt/slides/slide7.xml" Id="R8dff3b2dc0c74054" /><Relationship Type="http://schemas.openxmlformats.org/officeDocument/2006/relationships/slide" Target="/ppt/slides/slide8.xml" Id="R39a6097fd48240e9" /><Relationship Type="http://schemas.openxmlformats.org/officeDocument/2006/relationships/slide" Target="/ppt/slides/slide9.xml" Id="Rf39253b7295b4407" /><Relationship Type="http://schemas.openxmlformats.org/officeDocument/2006/relationships/slide" Target="/ppt/slides/slide10.xml" Id="Ra8011db8d4ef4935" /><Relationship Type="http://schemas.openxmlformats.org/officeDocument/2006/relationships/slide" Target="/ppt/slides/slide11.xml" Id="R7f040026bd4f4762" /><Relationship Type="http://schemas.openxmlformats.org/officeDocument/2006/relationships/slide" Target="/ppt/slides/slide12.xml" Id="R5ef1200b51e74ede" /><Relationship Type="http://schemas.openxmlformats.org/officeDocument/2006/relationships/slide" Target="/ppt/slides/slide13.xml" Id="Rf504744595204439" /><Relationship Type="http://schemas.openxmlformats.org/officeDocument/2006/relationships/slide" Target="/ppt/slides/slide14.xml" Id="R81d00aebdb1542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63497af99141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odex Grid">
      <a:dk1>
        <a:srgbClr val="111418"/>
      </a:dk1>
      <a:lt1>
        <a:srgbClr val="FFFFFF"/>
      </a:lt1>
      <a:dk2>
        <a:srgbClr val="183251"/>
      </a:dk2>
      <a:lt2>
        <a:srgbClr val="EDEDED"/>
      </a:lt2>
      <a:accent1>
        <a:srgbClr val="3D8DFF"/>
      </a:accent1>
      <a:accent2>
        <a:srgbClr val="6DCBF4"/>
      </a:accent2>
      <a:accent3>
        <a:srgbClr val="24966F"/>
      </a:accent3>
      <a:accent4>
        <a:srgbClr val="B87414"/>
      </a:accent4>
      <a:accent5>
        <a:srgbClr val="C64D4D"/>
      </a:accent5>
      <a:accent6>
        <a:srgbClr val="183251"/>
      </a:accent6>
      <a:hlink>
        <a:srgbClr val="3D8DFF"/>
      </a:hlink>
      <a:folHlink>
        <a:srgbClr val="18325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85e059165a4e7f" /><Relationship Type="http://schemas.openxmlformats.org/officeDocument/2006/relationships/notesMaster" Target="/ppt/notesMasters/notesMaster1.xml" Id="Rccd96f7d7fbb49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815070621d4e89" /><Relationship Type="http://schemas.openxmlformats.org/officeDocument/2006/relationships/notesMaster" Target="/ppt/notesMasters/notesMaster1.xml" Id="R39cfbcb5e04544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fa9d04ce4e4a24" /><Relationship Type="http://schemas.openxmlformats.org/officeDocument/2006/relationships/notesMaster" Target="/ppt/notesMasters/notesMaster1.xml" Id="R0fae7f5cdc924b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7b446408024952" /><Relationship Type="http://schemas.openxmlformats.org/officeDocument/2006/relationships/notesMaster" Target="/ppt/notesMasters/notesMaster1.xml" Id="R0d34e983976847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9955177c6742a0" /><Relationship Type="http://schemas.openxmlformats.org/officeDocument/2006/relationships/notesMaster" Target="/ppt/notesMasters/notesMaster1.xml" Id="R4dc4bfeae95549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90b0bf0e45457a" /><Relationship Type="http://schemas.openxmlformats.org/officeDocument/2006/relationships/notesMaster" Target="/ppt/notesMasters/notesMaster1.xml" Id="Rcb907100dca74d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26523c65314583" /><Relationship Type="http://schemas.openxmlformats.org/officeDocument/2006/relationships/notesMaster" Target="/ppt/notesMasters/notesMaster1.xml" Id="Rb3786f2e5a2d4e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c32c79a6bf48c8" /><Relationship Type="http://schemas.openxmlformats.org/officeDocument/2006/relationships/notesMaster" Target="/ppt/notesMasters/notesMaster1.xml" Id="R44eff73513964e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3225d0c5134704" /><Relationship Type="http://schemas.openxmlformats.org/officeDocument/2006/relationships/notesMaster" Target="/ppt/notesMasters/notesMaster1.xml" Id="R83aeed60048d4f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0d46fe9f544ab6" /><Relationship Type="http://schemas.openxmlformats.org/officeDocument/2006/relationships/notesMaster" Target="/ppt/notesMasters/notesMaster1.xml" Id="R2af78c715c2c4d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ebe20721c24f0c" /><Relationship Type="http://schemas.openxmlformats.org/officeDocument/2006/relationships/notesMaster" Target="/ppt/notesMasters/notesMaster1.xml" Id="Rc7b944b05d9548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cb66b050454a81" /><Relationship Type="http://schemas.openxmlformats.org/officeDocument/2006/relationships/notesMaster" Target="/ppt/notesMasters/notesMaster1.xml" Id="Rf3d83ce674df4f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83c52f6a2743d0" /><Relationship Type="http://schemas.openxmlformats.org/officeDocument/2006/relationships/notesMaster" Target="/ppt/notesMasters/notesMaster1.xml" Id="Re1b269a213be41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8b11a682814d4f" /><Relationship Type="http://schemas.openxmlformats.org/officeDocument/2006/relationships/notesMaster" Target="/ppt/notesMasters/notesMaster1.xml" Id="R797a4f5109e640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outcome. The memo is authenticated without changing any consensus object.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ZSwap/experiments/00002-offer-file-attested-memos/zswap-memo-attest/README.md:35-124</a:t>
            </a:r>
          </a:p>
          <a:p xmlns:a="http://schemas.openxmlformats.org/drawingml/2006/main">
            <a:r>
              <a:t>- /Users/edwardalvarado/todo/Auth Msg ZSwap/.claude/worktrees/plan-00001-audit-review-412ca9/Auth Msg ZSwap/audits/00002-offer-file-attested-memos-acceptance.md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work as a trust-boundary problem. The solution needs spender authorization, exact-byte binding, and no fork.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ZSwap/.claude/worktrees/plan-00001-audit-review-412ca9/Auth Msg ZSwap/plans/00001-restart-carrier-pivot-research.md:32-132</a:t>
            </a:r>
          </a:p>
          <a:p xmlns:a="http://schemas.openxmlformats.org/drawingml/2006/main">
            <a:r>
              <a:t>- /Users/edwardalvarado/todo/Auth Msg ZSwap/.claude/worktrees/plan-00001-audit-review-412ca9/Auth Msg ZSwap/spec/00002-offer-file-attested-memos.md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hybrid recommendation was to ship the off-chain proof now and leave a later on-chain binding available if strip resistance becomes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ZSwap/.claude/worktrees/plan-00001-audit-review-412ca9/Auth Msg ZSwap/plans/00001-restart-carrier-pivot-research.md:135-165</a:t>
            </a:r>
          </a:p>
          <a:p xmlns:a="http://schemas.openxmlformats.org/drawingml/2006/main">
            <a:r>
              <a:t>- /Users/edwardalvarado/todo/Auth Msg ZSwap/.claude/worktrees/plan-00001-audit-review-412ca9/Auth Msg ZSwap/plans/00001-restart-carrier-pivot-research.md:329-337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file is authenticated off chain, then its exact enclosed offer is extracted for the existing settlement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ZSwap/experiments/00002-offer-file-attested-memos/zswap-memo-attest/README.md:47-81</a:t>
            </a:r>
          </a:p>
          <a:p xmlns:a="http://schemas.openxmlformats.org/drawingml/2006/main">
            <a:r>
              <a:t>- /Users/edwardalvarado/todo/Auth Msg ZSwap/experiments/00002-offer-file-attested-memos/zswap-memo-attest/e2e/README.md</a:t>
            </a:r>
          </a:p>
          <a:p xmlns:a="http://schemas.openxmlformats.org/drawingml/2006/main">
            <a:r>
              <a:t>- /Users/edwardalvarado/todo/Auth Msg ZSwap/.claude/worktrees/plan-00001-audit-review-412ca9/Auth Msg ZSwap/audits/00002-offer-file-attested-memos-acceptance.md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encoding prevents ambiguous parsing, but canonicality alone is not authenticity. The proof covers the visible memo and exact enclosed offer bytes.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ZSwap/experiments/00002-offer-file-attested-memos/zswap-memo-attest/src/container.rs:110-156</a:t>
            </a:r>
          </a:p>
          <a:p xmlns:a="http://schemas.openxmlformats.org/drawingml/2006/main">
            <a:r>
              <a:t>- /Users/edwardalvarado/todo/Auth Msg ZSwap/experiments/00002-offer-file-attested-memos/zswap-memo-attest/src/container.rs:450-645</a:t>
            </a:r>
          </a:p>
          <a:p xmlns:a="http://schemas.openxmlformats.org/drawingml/2006/main">
            <a:r>
              <a:t>- /Users/edwardalvarado/todo/Auth Msg ZSwap/experiments/00002-offer-file-attested-memos/zswap-memo-attest/docs/mip-amendment.md:87-175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order. Carrier eligibility and offer validity are checked before the expensive prover runs; construction has one successful output shape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ZSwap/experiments/00002-offer-file-attested-memos/zswap-memo-attest/src/attest.rs:1-50</a:t>
            </a:r>
          </a:p>
          <a:p xmlns:a="http://schemas.openxmlformats.org/drawingml/2006/main">
            <a:r>
              <a:t>- /Users/edwardalvarado/todo/Auth Msg ZSwap/experiments/00002-offer-file-attested-memos/zswap-memo-attest/src/attest.rs:320-408</a:t>
            </a:r>
          </a:p>
          <a:p xmlns:a="http://schemas.openxmlformats.org/drawingml/2006/main">
            <a:r>
              <a:t>- /Users/edwardalvarado/todo/Auth Msg ZSwap/experiments/00002-offer-file-attested-memos/zswap-memo-attest/src/commit.rs:19-39</a:t>
            </a:r>
          </a:p>
          <a:p xmlns:a="http://schemas.openxmlformats.org/drawingml/2006/main">
            <a:r>
              <a:t>- /Users/edwardalvarado/todo/Auth Msg ZSwap/experiments/00002-offer-file-attested-memos/zswap-memo-attest/src/packing.rs:4-25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precise: this establishes equation equivalence with the ledger nullifier derivation, not proving-backend equivalence. The attestation uses minor 2; the on-chain spend circuit uses the legacy minor 0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ZSwap/experiments/00002-offer-file-attested-memos/zswap-memo-attest/src/circuit.rs:13-49</a:t>
            </a:r>
          </a:p>
          <a:p xmlns:a="http://schemas.openxmlformats.org/drawingml/2006/main">
            <a:r>
              <a:t>- /Users/edwardalvarado/todo/Auth Msg ZSwap/experiments/00002-offer-file-attested-memos/zswap-memo-attest/circuits/memo_attest.zkir:1-23</a:t>
            </a:r>
          </a:p>
          <a:p xmlns:a="http://schemas.openxmlformats.org/drawingml/2006/main">
            <a:r>
              <a:t>- /Users/edwardalvarado/todo/Auth Msg ZSwap/experiments/00002-offer-file-attested-memos/zswap-memo-attest/circuits/README.md:14-100</a:t>
            </a:r>
          </a:p>
          <a:p xmlns:a="http://schemas.openxmlformats.org/drawingml/2006/main">
            <a:r>
              <a:t>- /Users/edwardalvarado/todo/Auth Msg ZSwap/experiments/00002-offer-file-attested-memos/zswap-memo-attest/docs/implementation-spec.md:130-179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verifier never trusts a carried commitment. It recomputes everything it can and labels a memo authenticated only after both the attestation proof and enclosed offer succeed.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ZSwap/experiments/00002-offer-file-attested-memos/zswap-memo-attest/src/verify.rs:380-529</a:t>
            </a:r>
          </a:p>
          <a:p xmlns:a="http://schemas.openxmlformats.org/drawingml/2006/main">
            <a:r>
              <a:t>- /Users/edwardalvarado/todo/Auth Msg ZSwap/experiments/00002-offer-file-attested-memos/zswap-memo-attest/docs/implementation-spec.md:90-128</a:t>
            </a:r>
          </a:p>
          <a:p xmlns:a="http://schemas.openxmlformats.org/drawingml/2006/main">
            <a:r>
              <a:t>- /Users/edwardalvarado/todo/Auth Msg ZSwap/experiments/00002-offer-file-attested-memos/zswap-memo-attest/docs/implementation-spec.md:181-189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privacy claim is narrow and auditable. The proof reveals a strict subset of what the existing spend proof already exposes, plus the memo itself as explicit plaintext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ZSwap/.claude/worktrees/plan-00001-audit-review-412ca9/Auth Msg ZSwap/plans/00001-restart-carrier-pivot-research.md:165-231</a:t>
            </a:r>
          </a:p>
          <a:p xmlns:a="http://schemas.openxmlformats.org/drawingml/2006/main">
            <a:r>
              <a:t>- /Users/edwardalvarado/todo/Auth Msg ZSwap/experiments/00002-offer-file-attested-memos/zswap-memo-attest/src/circuit.rs:41-49</a:t>
            </a:r>
          </a:p>
          <a:p xmlns:a="http://schemas.openxmlformats.org/drawingml/2006/main">
            <a:r>
              <a:t>- /Users/edwardalvarado/todo/Auth Msg ZSwap/experiments/00002-offer-file-attested-memos/zswap-memo-attest/circuits/README.md:94-100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implementation map. The feature is deliberately isolated: deterministic bytes at the bottom, crypto binding in the middle, trust-aware API and CLI at the 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ZSwap/experiments/00002-offer-file-attested-memos/zswap-memo-attest/README.md:267-310</a:t>
            </a:r>
          </a:p>
          <a:p xmlns:a="http://schemas.openxmlformats.org/drawingml/2006/main">
            <a:r>
              <a:t>- /Users/edwardalvarado/todo/Auth Msg ZSwap/experiments/00002-offer-file-attested-memos/zswap-memo-attest/src/lib.rs</a:t>
            </a:r>
          </a:p>
          <a:p xmlns:a="http://schemas.openxmlformats.org/drawingml/2006/main">
            <a:r>
              <a:t>- /Users/edwardalvarado/todo/Auth Msg ZSwap/experiments/00002-offer-file-attested-memos/zswap-memo-attest/.git/logs/HEAD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commands are intentionally separated. inspect answers what is present; verify answers what may be trusted.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ZSwap/experiments/00002-offer-file-attested-memos/zswap-memo-attest/src/cli.rs:70-130</a:t>
            </a:r>
          </a:p>
          <a:p xmlns:a="http://schemas.openxmlformats.org/drawingml/2006/main">
            <a:r>
              <a:t>- /Users/edwardalvarado/todo/Auth Msg ZSwap/experiments/00002-offer-file-attested-memos/zswap-memo-attest/src/cli.rs:445-530</a:t>
            </a:r>
          </a:p>
          <a:p xmlns:a="http://schemas.openxmlformats.org/drawingml/2006/main">
            <a:r>
              <a:t>- /Users/edwardalvarado/todo/Auth Msg ZSwap/experiments/00002-offer-file-attested-memos/zswap-memo-attest/src/cli.rs:548-690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optimizes for authenticated authorship without a fork. It does not promise delivery, permanence, or absence semantics.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ZSwap/.claude/worktrees/plan-00001-audit-review-412ca9/Auth Msg ZSwap/plans/00001-restart-carrier-pivot-research.md:135-153</a:t>
            </a:r>
          </a:p>
          <a:p xmlns:a="http://schemas.openxmlformats.org/drawingml/2006/main">
            <a:r>
              <a:t>- /Users/edwardalvarado/todo/Auth Msg ZSwap/experiments/00002-offer-file-attested-memos/zswap-memo-attest/README.md:112-124</a:t>
            </a:r>
          </a:p>
          <a:p xmlns:a="http://schemas.openxmlformats.org/drawingml/2006/main">
            <a:r>
              <a:t>- /Users/edwardalvarado/todo/Auth Msg ZSwap/experiments/00002-offer-file-attested-memos/zswap-memo-attest/docs/mip-amendment.md:194-207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no-fork claim is a byte-identity and settlement claim. The node never saw or parsed the off-chain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ZSwap/experiments/00002-offer-file-attested-memos/zswap-memo-attest/README.md:241-265</a:t>
            </a:r>
          </a:p>
          <a:p xmlns:a="http://schemas.openxmlformats.org/drawingml/2006/main">
            <a:r>
              <a:t>- /Users/edwardalvarado/todo/Auth Msg ZSwap/experiments/00002-offer-file-attested-memos/zswap-memo-attest/e2e/README.md</a:t>
            </a:r>
          </a:p>
          <a:p xmlns:a="http://schemas.openxmlformats.org/drawingml/2006/main">
            <a:r>
              <a:t>- /Users/edwardalvarado/todo/Auth Msg ZSwap/.claude/worktrees/plan-00001-audit-review-412ca9/Auth Msg ZSwap/audits/00002-offer-file-attested-memos-acceptance.md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intentionally narrow claim. The strength comes from not pretending to solve delivery, identity, or consensus permanence.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/Users/edwardalvarado/todo/Auth Msg ZSwap/experiments/00002-offer-file-attested-memos/zswap-memo-attest/src/verify.rs:35-59</a:t>
            </a:r>
          </a:p>
          <a:p xmlns:a="http://schemas.openxmlformats.org/drawingml/2006/main">
            <a:r>
              <a:t>- /Users/edwardalvarado/todo/Auth Msg ZSwap/experiments/00002-offer-file-attested-memos/zswap-memo-attest/README.md:112-124</a:t>
            </a:r>
          </a:p>
          <a:p xmlns:a="http://schemas.openxmlformats.org/drawingml/2006/main">
            <a:r>
              <a:t>- /Users/edwardalvarado/todo/Auth Msg ZSwap/.claude/worktrees/plan-00001-audit-review-412ca9/Auth Msg ZSwap/plans/00001-restart-carrier-pivot-research.md:144-153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4a4f6657a49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62f44b494144dd" /><Relationship Type="http://schemas.openxmlformats.org/officeDocument/2006/relationships/slideLayout" Target="/ppt/slideLayouts/slideLayout1.xml" Id="Rc3c73c331dac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c73c331dac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dex Grid">
      <a:dk1>
        <a:srgbClr val="111418"/>
      </a:dk1>
      <a:lt1>
        <a:srgbClr val="FFFFFF"/>
      </a:lt1>
      <a:dk2>
        <a:srgbClr val="183251"/>
      </a:dk2>
      <a:lt2>
        <a:srgbClr val="EDEDED"/>
      </a:lt2>
      <a:accent1>
        <a:srgbClr val="3D8DFF"/>
      </a:accent1>
      <a:accent2>
        <a:srgbClr val="6DCBF4"/>
      </a:accent2>
      <a:accent3>
        <a:srgbClr val="24966F"/>
      </a:accent3>
      <a:accent4>
        <a:srgbClr val="B87414"/>
      </a:accent4>
      <a:accent5>
        <a:srgbClr val="C64D4D"/>
      </a:accent5>
      <a:accent6>
        <a:srgbClr val="183251"/>
      </a:accent6>
      <a:hlink>
        <a:srgbClr val="3D8DFF"/>
      </a:hlink>
      <a:folHlink>
        <a:srgbClr val="18325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8723479c84e48" /><Relationship Type="http://schemas.openxmlformats.org/officeDocument/2006/relationships/notesSlide" Target="/ppt/notesSlides/notesSlide1.xml" Id="R1a6d77a835f64e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71e4d08e24210" /><Relationship Type="http://schemas.openxmlformats.org/officeDocument/2006/relationships/notesSlide" Target="/ppt/notesSlides/notesSlide2.xml" Id="R5a874db4846248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008aad2d94c9d" /><Relationship Type="http://schemas.openxmlformats.org/officeDocument/2006/relationships/notesSlide" Target="/ppt/notesSlides/notesSlide3.xml" Id="R851801e6450441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f6576d6a54223" /><Relationship Type="http://schemas.openxmlformats.org/officeDocument/2006/relationships/notesSlide" Target="/ppt/notesSlides/notesSlide4.xml" Id="R89f8c7d0a2d446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cf57bc1d24743" /><Relationship Type="http://schemas.openxmlformats.org/officeDocument/2006/relationships/notesSlide" Target="/ppt/notesSlides/notesSlide5.xml" Id="R5800738d3b1648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b3bb3bd7644e8" /><Relationship Type="http://schemas.openxmlformats.org/officeDocument/2006/relationships/notesSlide" Target="/ppt/notesSlides/notesSlide6.xml" Id="R2bd9a9860b8d41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c5016f21a4a4d" /><Relationship Type="http://schemas.openxmlformats.org/officeDocument/2006/relationships/notesSlide" Target="/ppt/notesSlides/notesSlide7.xml" Id="R58563a947bc04a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94bbddc0543a7" /><Relationship Type="http://schemas.openxmlformats.org/officeDocument/2006/relationships/notesSlide" Target="/ppt/notesSlides/notesSlide8.xml" Id="R0c8dd33682ff47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4b4408d344031" /><Relationship Type="http://schemas.openxmlformats.org/officeDocument/2006/relationships/notesSlide" Target="/ppt/notesSlides/notesSlide9.xml" Id="R59cb844f8adb4a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677368cd14681" /><Relationship Type="http://schemas.openxmlformats.org/officeDocument/2006/relationships/notesSlide" Target="/ppt/notesSlides/notesSlide10.xml" Id="Rbc79d4bb10f449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66fc6dd234725" /><Relationship Type="http://schemas.openxmlformats.org/officeDocument/2006/relationships/notesSlide" Target="/ppt/notesSlides/notesSlide11.xml" Id="Rfb28b4276ecf48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2f5a1ef584698" /><Relationship Type="http://schemas.openxmlformats.org/officeDocument/2006/relationships/notesSlide" Target="/ppt/notesSlides/notesSlide12.xml" Id="R0d06e33bca064b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41ec9119540a7" /><Relationship Type="http://schemas.openxmlformats.org/officeDocument/2006/relationships/notesSlide" Target="/ppt/notesSlides/notesSlide13.xml" Id="R088137ec83ce4d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b5a7f74cb4d4b" /><Relationship Type="http://schemas.openxmlformats.org/officeDocument/2006/relationships/notesSlide" Target="/ppt/notesSlides/notesSlide14.xml" Id="R4deb47794cc441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B639B-D669-4E47-A42A-D1D10EA4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E5F5E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9548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MIDNIGHT 2.x  •  ZSWAP  •  OFF-CHAIN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256A072-3C49-4CBB-A33F-F1F12EF6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667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4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Authenticated memos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4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without a hard fork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78AE7-C407-49FA-A5FF-2D33AE47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A standalone proof travels with the offer file. The offer bytes, transaction bytes, and node stay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9B2F8-3186-47BE-BDA3-57D4C6BB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66800"/>
            <a:ext cx="3238500" cy="4286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6E983-44D9-47EF-B6FE-98560198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287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912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OFFER 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A19BD-2CA5-4069-A5B7-E34AEF9E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5146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05C42-0F10-4CDC-87E4-B866BE78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exact offer bytes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A06C8-BEC1-4FA4-ABD8-FDF9EBFB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2514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DD3F1-5114-4040-9909-EB32ACA0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BFD45-7B0F-4F0F-BA0C-86823976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514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3251"/>
          </a:solidFill>
          <a:ln xmlns:a="http://schemas.openxmlformats.org/drawingml/2006/main" w="9525">
            <a:solidFill>
              <a:srgbClr val="1832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94173-6E46-4216-BF95-459C0258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nullifier +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zero-knowledge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0D313-61CD-4003-B6E5-58127E37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Research and implementation walkthrough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54202-A629-4EF9-B59A-4B380BC5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3054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D99EF17-CCC3-4170-955C-99196525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D09C11-4D46-4A1E-99E9-00D3B2F3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8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problem is not carrying bytes. It is earning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6400F-333B-471D-8E53-04E08ABC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0B074-6EA4-4EDA-85FD-0B0F3B98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9981A-8BB6-4E63-8366-9231E32C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A4CC2-FF17-486E-9B38-504C847A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49B5A-1C74-480F-8041-5C503D02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200400" cy="34290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E2139-FB57-43D6-9864-249D7B2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A6D63-60EF-497D-8D86-8CFEF0AE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1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An offer moves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A4B10-C2A9-4701-95FE-D6BC1618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A ZSwap offer can be relayed and merged, but the base format carries no trusted human message.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0156C-D6A4-4BE8-A6EB-2F425D35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43100"/>
            <a:ext cx="3200400" cy="34290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C64D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54269-E27A-4DED-A8B3-17C03B69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58E64-C80C-42C7-BB36-0BE5E8C0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1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 plain sidecar is forgeable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4AA26-5490-434A-8D51-D4A5242A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Anyone can attach, alter, or re-attribute unsigned metadata. Displaying it as trusted creates a spoofing surface.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42DC2-4EA9-4AF6-915B-0799CE38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3200400" cy="34290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8EB0D-1188-44D5-ADEB-ACFAF88C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10F47-F57E-4763-BD42-1806B5DC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1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Putting it on chain is expensive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11934-C989-48BE-A1C8-C9411E14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Adding a memo to the ledger format cascades through version tags, fee sizing, activation logic, wallets, and indexers.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D9342-452C-4A19-A57C-0343E0F0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38800"/>
            <a:ext cx="6896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E5F5E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Design target: cryptographic attribution with zero consensus change</a:t>
            </a:r>
          </a:p>
        </p:txBody>
      </p:sp>
    </p:spTree>
    <p:extLst>
      <p:ext uri="{BB962C8B-B14F-4D97-AF65-F5344CB8AC3E}">
        <p14:creationId xmlns:p14="http://schemas.microsoft.com/office/powerpoint/2010/main" val="1043862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00FF0DD3-51D0-4737-8251-E787C623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657330-4BF2-48D2-B2DB-C0DADD0C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Alternatives: only one removes consensus coupling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49499-E3FA-440D-9179-325F07FA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3010B-6CA9-4406-B2B4-17BF4041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FCCF8-89D9-4501-9D3D-8936F118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5EB52-4B9D-426D-BA22-261478EC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35E18-EEC8-4A49-B6D6-DA314156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2860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C5987-2046-46B3-B83A-3FE439DD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D54C6-DFD7-434A-8600-8ADC393E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09750"/>
            <a:ext cx="26670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0F490-EBD8-48FF-B8E0-6A97E7C1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145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AUTHENTICATION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80541-9C97-4B6D-B2A5-2F8D9A66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26670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9924F-1177-414D-B574-1255E82E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145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CHAIN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6145E-1CF2-4A15-8E75-8F212BF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3528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F7BC4-E133-490E-A234-F0C82EEA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14525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 / TRADE-OFF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89B79-2607-4838-9EF7-62A5EE41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286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14288">
            <a:solidFill>
              <a:srgbClr val="2496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F12EF-0E18-45D0-8358-AE2206C5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Off-chain proof + 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B7E58-B84C-4519-B8BE-908C58D8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2667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14288">
            <a:solidFill>
              <a:srgbClr val="2496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C4D25-FD66-4B38-A8B7-26A58DD8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Spending-secret proof for one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3D793-3FA6-4602-9D4F-25AD5689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66950"/>
            <a:ext cx="2667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14288">
            <a:solidFill>
              <a:srgbClr val="2496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4EF1B-AC73-43AF-A2CB-22988B21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622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E18BB-71FA-4D66-BC32-FE5DEDA5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3528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14288">
            <a:solidFill>
              <a:srgbClr val="2496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27CD3-C684-4D0E-AA66-0F55AE36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CHOSEN. Forge-resistant, strippable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D5FB1-9F62-43E7-AF4D-05312395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286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805EC-3217-4D32-B898-FA537499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On-chain output memo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9DDBE-5E78-475D-BCAB-E5FFBD64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2667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9E6FC1-95DB-4B0F-88A3-5034B0F4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Bound to output, not spender secret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F7C2B-EC03-4457-8F6E-6584251B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48000"/>
            <a:ext cx="2667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93EC8-F271-4834-AF78-58A0F230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432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Hard fork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9B1EF6-50C5-4AC7-8054-026B8C68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3528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00E810-1F99-4303-8300-E3A41581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Private delivery, weaker attribution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8EFD34-5513-4E31-8608-F678FA26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286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F62362-9F03-49D9-A373-660BC981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Offer-level memo annex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11280B-6AFE-431A-A45F-FDAB9730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29050"/>
            <a:ext cx="2667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678B81-7CFB-4FFB-93CC-FF00DAB1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243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Spend-proof bound by nullifier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57517-593A-4C85-B1F2-91B25A88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29050"/>
            <a:ext cx="2667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5277AA-CB55-44B1-8B29-A0AA9540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243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Hard fork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9C0D5C-4094-4BFA-8DF2-25789CC4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3528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80E46-1146-49A8-9A28-C8C722CF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2430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Strip-resistant, keeps full activation cost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3DA8D2-3FAC-44E2-9A47-77583D2C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286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E01F4A-C638-486B-BE3F-1AF0704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Reuse public-key sign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3B0EE7-622E-4444-8F86-7F120F59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10100"/>
            <a:ext cx="2667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7F1896-2C0B-470E-87FC-A8876B76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053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Signature by disclosed key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DEE68D-63B8-4DE8-ACDF-203D5A7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10100"/>
            <a:ext cx="2667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971853-E0B3-4FE6-A896-B3B9CCA9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053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None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76702F-387B-41F8-9183-CFA901E8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10100"/>
            <a:ext cx="33528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215630-A7F7-4529-9472-AABDE5D0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Key not linked to an offer input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23BB38-8E6F-4D89-801F-A9177CFF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2286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E82E3D-8FC4-49E2-A851-708F04C9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Unsigned sidecar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341FB6-3376-4BDD-9C85-BC586DEB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91150"/>
            <a:ext cx="2667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65D630-425A-432A-A845-A265D2E4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864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None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A8E23C-123C-42DB-B83F-3EE0888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91150"/>
            <a:ext cx="26670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F9F45C-9C68-4F9A-86F3-F088BC9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864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None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CAE462-945A-4FBB-9F9D-108360B3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91150"/>
            <a:ext cx="33528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B3AD16-48C2-4E1B-BF5F-97D6703D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8640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Simple, but forgeable and re-attributable</a:t>
            </a:r>
          </a:p>
        </p:txBody>
      </p:sp>
    </p:spTree>
    <p:extLst>
      <p:ext uri="{BB962C8B-B14F-4D97-AF65-F5344CB8AC3E}">
        <p14:creationId xmlns:p14="http://schemas.microsoft.com/office/powerpoint/2010/main" val="1258139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8F3EDA26-911C-49D0-8F7F-4A2484A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UML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B8FCD6-FB38-4699-8D1C-EB5D3B39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4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How it is used: proof-aware tools, proof-unaware consensus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E220D-982B-4BD2-B7E6-516D6C64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BA35E-AB9C-4CC9-9116-F8F46336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CB335-9091-48B0-A232-5E2529B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0534C-503C-46C7-955E-9ADB3B24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8AB8A-9953-460E-8795-CA320A2C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7200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70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2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251"/>
                </a:solidFill>
                <a:latin typeface="Helvetica Neue"/>
                <a:ea typeface="Helvetica Neue"/>
                <a:cs typeface="Helvetica Neue"/>
              </a:rPr>
              <a:t>OFF-CHAIN TRUST DOMAIN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9BBAB-FBCC-4F4A-84EA-2C3DC0FB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14500"/>
            <a:ext cx="2857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70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UNCHANGED CONSENSUS</a:t>
            </a:r>
          </a:p>
        </p:txBody>
      </p:sp>
      <p:sp>
        <p:nvSpPr>
          <p:cNvPr id="9" name="maker-wallet">
            <a:extLst xmlns:a="http://schemas.openxmlformats.org/drawingml/2006/main">
              <a:ext uri="{FF2B5EF4-FFF2-40B4-BE49-F238E27FC236}">
                <a16:creationId xmlns:a16="http://schemas.microsoft.com/office/drawing/2014/main" id="{0A02E566-F6EF-4797-9FCC-589F857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0025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Maker wallet</a:t>
            </a:r>
          </a:p>
          <a:p xmlns:a="http://schemas.openxmlformats.org/drawingml/2006/main">
            <a:pPr algn="ctr"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(coin + spending secret)</a:t>
            </a:r>
          </a:p>
        </p:txBody>
      </p:sp>
      <p:sp>
        <p:nvSpPr>
          <p:cNvPr id="10" name="attestor">
            <a:extLst xmlns:a="http://schemas.openxmlformats.org/drawingml/2006/main">
              <a:ext uri="{FF2B5EF4-FFF2-40B4-BE49-F238E27FC236}">
                <a16:creationId xmlns:a16="http://schemas.microsoft.com/office/drawing/2014/main" id="{7114C088-1650-44DC-A3ED-80375EFC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16764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3251"/>
          </a:solidFill>
          <a:ln xmlns:a="http://schemas.openxmlformats.org/drawingml/2006/main" w="14288">
            <a:solidFill>
              <a:srgbClr val="183251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attest() / CLI</a:t>
            </a:r>
          </a:p>
        </p:txBody>
      </p:sp>
      <p:sp>
        <p:nvSpPr>
          <p:cNvPr id="11" name="offer-file">
            <a:extLst xmlns:a="http://schemas.openxmlformats.org/drawingml/2006/main">
              <a:ext uri="{FF2B5EF4-FFF2-40B4-BE49-F238E27FC236}">
                <a16:creationId xmlns:a16="http://schemas.microsoft.com/office/drawing/2014/main" id="{9E986C05-3915-45CC-92BE-F9B08865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19350"/>
            <a:ext cx="219075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14288">
            <a:solidFill>
              <a:srgbClr val="24966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ZSWPMEMO file</a:t>
            </a:r>
          </a:p>
          <a:p xmlns:a="http://schemas.openxmlformats.org/drawingml/2006/main">
            <a:pPr algn="ctr">
              <a:defRPr sz="142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offer + memo + proof</a:t>
            </a:r>
          </a:p>
        </p:txBody>
      </p:sp>
      <p:sp>
        <p:nvSpPr>
          <p:cNvPr id="12" name="relay">
            <a:extLst xmlns:a="http://schemas.openxmlformats.org/drawingml/2006/main">
              <a:ext uri="{FF2B5EF4-FFF2-40B4-BE49-F238E27FC236}">
                <a16:creationId xmlns:a16="http://schemas.microsoft.com/office/drawing/2014/main" id="{68F24EE2-42D9-4EBC-AA26-5FB596D4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05300"/>
            <a:ext cx="16764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Relay / transport</a:t>
            </a:r>
          </a:p>
        </p:txBody>
      </p:sp>
      <p:sp>
        <p:nvSpPr>
          <p:cNvPr id="13" name="verifier">
            <a:extLst xmlns:a="http://schemas.openxmlformats.org/drawingml/2006/main">
              <a:ext uri="{FF2B5EF4-FFF2-40B4-BE49-F238E27FC236}">
                <a16:creationId xmlns:a16="http://schemas.microsoft.com/office/drawing/2014/main" id="{7C7274A5-634D-4377-A3DD-2E68BFE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05300"/>
            <a:ext cx="21907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verify() / reader</a:t>
            </a:r>
          </a:p>
        </p:txBody>
      </p:sp>
      <p:sp>
        <p:nvSpPr>
          <p:cNvPr id="14" name="toolkit">
            <a:extLst xmlns:a="http://schemas.openxmlformats.org/drawingml/2006/main">
              <a:ext uri="{FF2B5EF4-FFF2-40B4-BE49-F238E27FC236}">
                <a16:creationId xmlns:a16="http://schemas.microsoft.com/office/drawing/2014/main" id="{E1F67C30-57B0-4C76-A872-9170659F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180975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Toolkit</a:t>
            </a:r>
          </a:p>
          <a:p xmlns:a="http://schemas.openxmlformats.org/drawingml/2006/main">
            <a:pPr algn="ctr"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extract original offer</a:t>
            </a:r>
          </a:p>
        </p:txBody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5AB72A00-FA33-43FD-8E05-1AE789CE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52800"/>
            <a:ext cx="12954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14288">
            <a:solidFill>
              <a:srgbClr val="11141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553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Unmodified node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validates transaction</a:t>
            </a:r>
          </a:p>
        </p:txBody>
      </p: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86050" y="28860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76800" y="28860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4038600" y="3352800"/>
            <a:ext cx="244792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76800" y="47053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7581900" y="3819525"/>
            <a:ext cx="64770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039350" y="3819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1EFCA-2BE9-4168-9388-3D8933D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3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rPr>
              <a:t>Proof and memo stop here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19E8E1-C1AE-4B1A-B2D9-532C8B12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4D47F-00F0-4841-9322-5FA4320A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5310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verifier authenticates the file. The node never parses the memo or attestation.</a:t>
            </a:r>
          </a:p>
        </p:txBody>
      </p:sp>
    </p:spTree>
    <p:extLst>
      <p:ext uri="{BB962C8B-B14F-4D97-AF65-F5344CB8AC3E}">
        <p14:creationId xmlns:p14="http://schemas.microsoft.com/office/powerpoint/2010/main" val="2066006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25C52162-2615-47D6-9CD3-BF5DF16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WIRE FORMAT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98814B-FE89-4F2E-A821-AFAF2F20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5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container is canonical, versioned, and intentionally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E4237-B5D5-4548-AF07-8B59BE68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685DC-8C60-4F6E-AD36-F58006C5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DC0F3-C758-4D6D-A90C-2102D143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DB29C-BB56-4E1F-B27F-F7AA8536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B7FD0-E7CF-42CD-842C-90ED79CD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42875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FFFA7-D087-4B3C-A586-93E35FCF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HEADER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3B458-1662-4E65-9372-64DC395B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ZSWPMEMO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v1 · reserved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B2D7C-7D7B-47E0-9043-1726A1B3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295275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4E09B-998B-4EDA-88E6-86C7F86B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OFFER SECTION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8ACEC-2601-42AA-83B5-7624D122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337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exact bytes, verbatim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1..=16 MiB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5A0EC-5B68-43D3-B6D2-D8BED889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28850"/>
            <a:ext cx="17145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FB515-2240-46AE-BDDE-4699E4CD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384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832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251"/>
                </a:solidFill>
                <a:latin typeface="Helvetica Neue"/>
                <a:ea typeface="Helvetica Neue"/>
                <a:cs typeface="Helvetica Neue"/>
              </a:rPr>
              <a:t>MEMO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8724E-FAE2-4A9D-8738-88BFC177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337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832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251"/>
                </a:solidFill>
                <a:latin typeface="Helvetica Neue"/>
                <a:ea typeface="Helvetica Neue"/>
                <a:cs typeface="Helvetica Neue"/>
              </a:rPr>
              <a:t>1..=512 bytes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AAB10-7A8F-4C46-98B1-B90687BF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200025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2744E-3ECB-4CF8-8FC8-FF53165A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384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NULLIFIER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B027F-BB77-4E58-A281-111878EC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32 bytes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carrier attribution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C3D18-DFBF-44D7-8AC7-4F8C59E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287655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8325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F4A16-175D-45D1-BA67-79113F0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384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C74E2-DC5B-4FE4-BB3A-7BDA4F8A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3370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5248 bytes in v1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9E834-0814-4FC4-836C-478FA917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Canonical decode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2B4C4-BC7F-450A-ADE6-33DA945A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ascending sections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unknown kinds rejected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no trailing bytes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392C5-8FA4-4420-8119-14AD67C1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Allocation safety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13D90-F46E-413C-9A42-E8C15348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482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every declared length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bounded before 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E84DF-FF47-4F77-8749-AF2A4F3C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Exact-byte identity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49AD0-354F-4D4B-A172-AC39B3C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payload never normalized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or re-serialized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14421A-AE09-437F-985C-D07222A3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FFF3D9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7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87414"/>
                </a:solidFill>
                <a:latin typeface="Helvetica Neue"/>
                <a:ea typeface="Helvetica Neue"/>
                <a:cs typeface="Helvetica Neue"/>
              </a:rPr>
              <a:t>Stripping removes the entire attestation section and leaves the offer bytes untouched</a:t>
            </a:r>
          </a:p>
        </p:txBody>
      </p:sp>
    </p:spTree>
    <p:extLst>
      <p:ext uri="{BB962C8B-B14F-4D97-AF65-F5344CB8AC3E}">
        <p14:creationId xmlns:p14="http://schemas.microsoft.com/office/powerpoint/2010/main" val="72211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A3DC666-31A3-49DB-991D-13596610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43013C-B43D-4EC7-B207-DA27F5F7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How the proof is generated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FF1E9-AB7B-42AC-B558-E1AF984A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94831-9DD2-4764-8F18-64906479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D6F3E-98AC-4270-98A0-C16CA7A3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CE126-B1E5-4306-832A-61EB335C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FE29C-E61B-4CF7-AF38-AB2817E8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581150" cy="21907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63324-BA04-43EC-9ED0-E82FC58A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355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1DD62-D690-4355-88BA-9D178603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B5D7C-BF79-415F-9224-5C325EB4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memo size, offer parse, user-owned carrier, offer well-formed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2CC84-D565-43EF-9036-5A960A96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47900"/>
            <a:ext cx="1581150" cy="21907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3AD57-3BEA-442C-92AD-CD2179D5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355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42308-7A3F-4131-A314-40A9F2F2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1465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Hash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65F16-7C03-4B27-A522-58CBAD3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6235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offer_hash =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SHA-256(exact offer bytes)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C939F-1A5F-4F1F-945D-26906190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1581150" cy="21907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5BCD5-DCD0-47F5-BB79-776C291F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355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88675-4921-4E8F-A425-A7948D0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CC678-62E0-485E-9AB6-2DFBC9FD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[Fr(length)] + 31-byte little-endian chunks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DA2DB-4D3E-4A81-A968-118524D0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1581150" cy="21907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C89DD-3521-4678-9F55-D20DAD22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355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A86A9-EEAB-479D-93AC-94A90501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3F097-94B5-4ED7-BB39-1B32CCA3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C = transient_commit(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pack(memo), opening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0D79E-17A2-43DB-A384-BC91634E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1581150" cy="21907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7A8A7-8589-4035-A8B8-480350B1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355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3778F8-C786-4B5F-BE73-4C4F4867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Assemble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47305-15E5-4782-AB41-A0394235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private witness (coin, sk), public [C, nullifier]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12EECC-2B4C-47E2-8635-D708FA4C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47900"/>
            <a:ext cx="1581150" cy="21907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1A56E-EDBB-4E5D-BFD1-AC272EAA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812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355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936DAE-DE2D-4C1B-80EE-8F68831C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1465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Prove + encode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152F5-8EB2-46ED-AEBF-2C4D0C56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6235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shipped prover key, then one canonical file</a:t>
            </a:r>
          </a:p>
        </p:txBody>
      </p: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90750" y="3343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095750" y="3343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000750" y="3343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905750" y="3343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810750" y="3343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3EF2ED-7C2D-4AC6-ABD7-A1F2F101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990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251"/>
          </a:solidFill>
          <a:ln xmlns:a="http://schemas.openxmlformats.org/drawingml/2006/main" w="9525">
            <a:solidFill>
              <a:srgbClr val="1832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36E96F-9505-42DD-9000-F1FC00B9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Fail-closed construction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C2BB77-7678-4146-9951-537F2D6B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292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 cheap refusal happens before proving. If any step fails, no file is emitted and the requested memo is never silently dropped.</a:t>
            </a:r>
          </a:p>
        </p:txBody>
      </p:sp>
    </p:spTree>
    <p:extLst>
      <p:ext uri="{BB962C8B-B14F-4D97-AF65-F5344CB8AC3E}">
        <p14:creationId xmlns:p14="http://schemas.microsoft.com/office/powerpoint/2010/main" val="715834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2B4F743-A270-44E1-8E86-0B7D0E25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CIRCUIT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89A1B2-9C48-432D-A3EB-CEEC4BBF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circuit proves one equation and nothing wider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1C1CB-98A8-45C9-8A50-94AC5853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B2EF8-EAD8-4FAD-A06F-9167111C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514DE-6351-46C8-9764-6BBD17FA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A97DF-34BB-40AE-A5F6-E0C6449D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79213-435E-4FDE-90BD-0E86F6D1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714750" cy="270510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3B73-C5F9-4B5F-AEB6-504ADE9F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70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PRIVATE WITNESS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A48B8-5CB3-4B94-ADC4-F7E1ED38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coin.nonce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coin.token_type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coin.value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spending secret 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708F6-96B8-47B9-A7BA-F85B3FBD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85950"/>
            <a:ext cx="3714750" cy="270510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1BEEB-E241-439F-B302-F566C9DD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1866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870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STATEMENT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58C77-796E-4F4B-87F0-A9136E21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carrier nullifier 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15BB7-BBD0-4157-BEFB-A214FEC6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2819400" cy="1847850"/>
          </a:xfrm>
          <a:prstGeom xmlns:a="http://schemas.openxmlformats.org/drawingml/2006/main" prst="roundRect">
            <a:avLst>
              <a:gd name="adj" fmla="val 10309"/>
            </a:avLst>
          </a:prstGeom>
          <a:solidFill xmlns:a="http://schemas.openxmlformats.org/drawingml/2006/main">
            <a:srgbClr val="183251"/>
          </a:solidFill>
          <a:ln xmlns:a="http://schemas.openxmlformats.org/drawingml/2006/main" w="9525">
            <a:solidFill>
              <a:srgbClr val="1832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DEDA6-6E6D-4F8A-BEFA-2B1A142F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09850"/>
            <a:ext cx="2400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 = SHA-256(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domain || coin || 0x01 || sk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5C166-5A93-4B16-B823-FCB21706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333875" y="3167063"/>
            <a:ext cx="352425" cy="428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43389-470D-4925-93C9-64E45AF4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505700" y="3167063"/>
            <a:ext cx="342900" cy="428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094B9-DBAA-47A1-BD32-5D3989A2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714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F9B6D-B69E-4D2A-8549-423D8779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 = 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2D536-E378-46A8-8D8B-85EFE084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circuit degree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C8D7C-18D0-4D5C-8F9B-4BD023D4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91100"/>
            <a:ext cx="1714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58222-A7DC-4DF2-ACA9-80EE8DC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05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5,693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75B744-4DFD-4369-A8F6-B850EE32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435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1F1351-618E-47E6-BE84-C8B1D2E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91100"/>
            <a:ext cx="1714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41E76-A2F7-4BE4-B41A-1AB39F0E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05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79255-E310-4A2F-8771-802B4E75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435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private fields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BB8FE-AD73-47AF-9B43-D0A477D2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1714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EE706-1C47-4989-A5BD-EC9E0952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F2B3C5-2096-419F-9D64-DA2D97B4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435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public inputs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5ED47-D554-4098-8E94-E8E20F81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1714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743A1C-0FA5-4EEC-8D3C-49662505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05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5,248 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A5F61C-4494-46DA-94FF-47AF6984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435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proof size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F17838-980D-4DDE-AC2F-B039F791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991100"/>
            <a:ext cx="14478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3BEF91-422F-4697-9E2D-33649FB8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054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minor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22B2A6-B410-44F7-AACF-0C205ECA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5435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attestation backend</a:t>
            </a:r>
          </a:p>
        </p:txBody>
      </p:sp>
    </p:spTree>
    <p:extLst>
      <p:ext uri="{BB962C8B-B14F-4D97-AF65-F5344CB8AC3E}">
        <p14:creationId xmlns:p14="http://schemas.microsoft.com/office/powerpoint/2010/main" val="605517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8E7F9E1-6ADF-42BD-947C-F70541C3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575A35-C7B1-46BD-A0C5-0A931182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How the proof is validated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F21A0-2F98-478D-A7BF-8461D475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1B77C-5227-46A5-9518-3973AEE0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7E57D-02FC-4AF2-8BE3-59989370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4ED22-083C-4AB9-AF6A-06691037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7656B-06DC-4891-BED8-6FD332A9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9548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A4B41-9CBC-4EF3-BFE5-94E16C7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Decode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57E74-304F-460F-9F9A-050A2013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907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magic, version, ordering, bounds, exact 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B6D77-F163-40BF-BDD3-CFC83089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54482-2E83-4DB4-BBE9-EC0FAEF3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9548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AC77A-5C3E-49A3-9F98-6C4F2F8A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Parse offer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37003-2A7E-441A-A251-36AACC5D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765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claimed N must name a user-owned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F8CEC-4269-48A5-9FA0-49E0138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87CD2-BEAD-43F9-9936-76ED3001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9548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D931F-3021-4453-8912-D8D869F8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62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Recompute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BC099-09BA-4973-8A60-F0C01D3C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623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from memo + exact enclosed offer bytes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317E3-0A6B-4E1A-9099-9DB83424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99891-5E63-4550-9192-90D1F7E4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9548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C68BF-A197-4580-9F6F-7373C126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Rebuild statement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91EC3-57DF-446F-A9BD-D0F9F501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481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[C, N₀, N₁] from public data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2009B-D59B-43D6-8781-990B6D1D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C3F9A-8A43-4807-9283-2101FEE1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9548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0DAF9-68A9-4658-B8CE-A243697E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Verify attestation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89E05-7FC1-426A-B5C4-F0F0B78C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339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offline with checksum-pinned verifier key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4F99C-1AA5-459D-A324-F63CDC18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354A06-79F0-452B-A1EB-3E54C89E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9548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00849-6A0F-4E73-A3E9-90C8CDC3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Verify offer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FE3997-2B42-4BF3-9311-F1393630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197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unchanged Offer::well_formed(segment)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F6E801-2961-4678-AFCB-9EFB0DD9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724150" cy="373380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195C7-1CE5-401F-8D02-E23D9D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TRUST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878AC5-A6EE-4318-BCF1-9C3F1027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98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E5F5E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AUTHENTICATED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2E7D2B-ACE8-47AB-8E66-8F61AB07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Exact memo authorized for this carrier nullifier, and the enclosed offer verified.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D448B4-7083-494D-8106-F100509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20002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FCE8E8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rPr>
              <a:t>UNTRUSTED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C0F529-71C3-4000-8EB6-ECE28A01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86300"/>
            <a:ext cx="20002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FFF3D9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7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87414"/>
                </a:solidFill>
                <a:latin typeface="Helvetica Neue"/>
                <a:ea typeface="Helvetica Neue"/>
                <a:cs typeface="Helvetica Neue"/>
              </a:rPr>
              <a:t>NO MESSAGE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DAC473-6F4C-4C88-AF07-D64FDAD5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15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87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87414"/>
                </a:solidFill>
                <a:latin typeface="Helvetica Neue"/>
                <a:ea typeface="Helvetica Neue"/>
                <a:cs typeface="Helvetica Neue"/>
              </a:rPr>
              <a:t>NoMessage means absent now, not never authored.</a:t>
            </a:r>
          </a:p>
        </p:txBody>
      </p:sp>
    </p:spTree>
    <p:extLst>
      <p:ext uri="{BB962C8B-B14F-4D97-AF65-F5344CB8AC3E}">
        <p14:creationId xmlns:p14="http://schemas.microsoft.com/office/powerpoint/2010/main" val="1187586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8B9D78B7-7F54-4C66-8220-84FCAE6B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PRIVACY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C16A83-E0BE-4258-80BC-7B59D132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Why the proof does not leak the spender's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8D5C1-CC50-461F-A17E-6C04DB0E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1B6D0-AF61-4721-AD4B-1946007E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88D3B-863E-4697-9956-EEDE5434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8CAA4-A0D0-49D1-B6D6-5AB2629A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D6090-5C9D-47F7-9E6A-D8DA4745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05400" cy="3276600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43DCB-E616-4D7D-9EB5-8055DA24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Verifier learns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85E3E-AAB5-41A4-BA82-86297C16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457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EACE0-8E72-4210-8E1A-56BFECCF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Memo plaintext, intentionally visible in the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FE3EB-B031-49C1-AE8D-BAE09D4F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457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50846-543B-4218-93C7-E15ED873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2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Carrier nullifier already visible in the enclosed offer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3E269-182B-4C16-ACA4-88B4812E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457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6A7C7-558A-471A-B95E-A43D87F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Commitment C, recomputable from public file contents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62E53-95FC-4C45-B3A1-7869E1CC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457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99FF4-31CB-4D24-BE0F-7F278CBA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Whether the proof and enclosed offer validate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E25E1-5E96-42C6-82DF-8D9A103F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85950"/>
            <a:ext cx="5562600" cy="3276600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CC0FA-736C-4810-B6BA-D53002C7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Verifier does not learn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D45E7-8355-4C1A-BBBF-9E5B9958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5463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A6DAD-DA4B-4D26-A3E8-4D4AC79F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22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Spending secret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6A67E-F13A-4C88-95E8-2E24D6E5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5463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0288A-24D8-4635-81F2-66520E55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956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Public key or new identity handle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FC5FE-F9A0-4F04-8B61-21E12AD6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5463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39416-2917-4A2C-8D5A-2DC65DDB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Coin nonce, token type, or value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B6698-31EE-4E5E-9302-E8986752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5463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19CEC-9478-4DBC-BD30-B4E7AC8B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Merkle path, balance, or ownership metadata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B1ED2-FB0D-4DE8-A2F7-49230FBF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93726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83251"/>
          </a:solidFill>
          <a:ln xmlns:a="http://schemas.openxmlformats.org/drawingml/2006/main" w="9525">
            <a:solidFill>
              <a:srgbClr val="1832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EF80B-1D5C-46F8-BB4D-0D7B6F90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Zero knowledge hides the witness. It does not hide the memo, and it does not make authorship deniable to someone holding the file.</a:t>
            </a:r>
          </a:p>
        </p:txBody>
      </p:sp>
    </p:spTree>
    <p:extLst>
      <p:ext uri="{BB962C8B-B14F-4D97-AF65-F5344CB8AC3E}">
        <p14:creationId xmlns:p14="http://schemas.microsoft.com/office/powerpoint/2010/main" val="617921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8F18CF7-3A95-4ABA-8661-0B81A139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IMPLEMENTATION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C496F1-CA5C-4847-A214-CF03E2DA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81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Key code changes: one standalone crate, six clear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51E60-AAF6-420F-8FCA-6F79F140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1E5D5-267A-4BC0-8A35-46AD2458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FCBCD-5792-4FB8-B6E2-C3E2FC2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F60E5-D3E9-446E-9D31-475B728B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63BEC-233F-4E46-855A-359AB7DB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2578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B504C-F88D-4BA3-9497-EF7DFDFE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memo.rs + packing.rs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48650-9B84-47BC-A693-0843F0AE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Validate 1..=512 bytes and injectively pack length + 31-byte chunks.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5F350-2D27-45C5-A00C-0735C067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2578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D1364-78D8-4264-929D-11ADFAC8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commit.rs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2F6DA-0408-4201-A1D3-A0B29B92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Hash exact offer bytes and derive the shared context commitment 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6A1FF-2F0E-4718-825C-3D2DA50F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2578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FB37B-8D92-45D1-904F-0FD701C7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circuit.rs + circuits/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250B8-852B-46EF-B718-5DDB6672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5280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Assemble the 7-field witness, 3-field statement, and nullifier equation.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2F26E-DA02-4B88-8517-01B19C55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0400"/>
            <a:ext cx="52578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FE481-3FB7-42EA-BA99-303E9A1E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container.rs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02E1F-E96E-4CE9-9A06-02283441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Canonical ZSWPMEMO v1 codec with hostile-length and trailing-byte rejection.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E9294-BA56-4363-8B0D-91907AB5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2578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F1041-D2F0-4662-9DC9-350CC8D5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attest.rs + verify.rs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3C04C2-3D90-4599-B904-89DC41CB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053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Fail-closed construction and ordered trust-aware verification.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92314-737F-4DEC-B86A-01FD9F32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52578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19A5D-F51F-454D-BA83-B791339C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cli.rs + e2e/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1EF6A-E9AE-4BD4-8091-632AD0B9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053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attest, verify, inspect, safe carrier-file input, and unmodified-node settlement path.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D13FA-54AA-4975-9B9E-E65BCBAA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905500"/>
            <a:ext cx="43434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E5F5E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9390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Upstream ledger and node: unchanged</a:t>
            </a:r>
          </a:p>
        </p:txBody>
      </p:sp>
    </p:spTree>
    <p:extLst>
      <p:ext uri="{BB962C8B-B14F-4D97-AF65-F5344CB8AC3E}">
        <p14:creationId xmlns:p14="http://schemas.microsoft.com/office/powerpoint/2010/main" val="12135431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928118F-B7A6-41AA-96B2-DF347305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3CB558-8E43-47B2-9AA3-BA8D10AB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8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user flow is three commands with distinct trust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60879-1FA3-4D5B-8A96-8CC2F0B4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CB9BD-4654-4A25-AA80-23F4CD5F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B2918-BD3D-4736-BB02-A6A5A38D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28F40-5B2C-457A-BFB4-A15905BD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7A93B-BDF5-418D-A90B-7DEC531E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048500" cy="3695700"/>
          </a:xfrm>
          <a:prstGeom xmlns:a="http://schemas.openxmlformats.org/drawingml/2006/main" prst="roundRect">
            <a:avLst>
              <a:gd name="adj" fmla="val 4639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09253-FC00-477C-A614-07F8F5A9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64389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zswap-memo-attest attest \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--offer maker.offer \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--memo-file note.txt \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--carrier-file carrier.txt \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--out maker.zswpmemo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zswap-memo-attest verify maker.zswpmemo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zswap-memo-attest inspect maker.zswpmemo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17B1C-7496-488F-8BD4-4470FB42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35433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1FA2F-4364-4D61-BAAE-E368344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attest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D4B0C-1B9F-4D96-A8D0-B2EDD84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Writes only after every check and proving succeeds.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64CEB-464C-4F00-8E00-01230C83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5433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832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5EE51-4889-44D8-A90C-754839F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832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251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8DDAF-61D9-4607-B7E6-1DAF959E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Only this command may report AUTHENTICATED.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2DBD2-F687-4FF8-95D5-90AEB6B8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24350"/>
            <a:ext cx="35433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B874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6A2B7-2DCD-484A-BD82-B71F576B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B87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87414"/>
                </a:solidFill>
                <a:latin typeface="Helvetica Neue"/>
                <a:ea typeface="Helvetica Neue"/>
                <a:cs typeface="Helvetica Neue"/>
              </a:rPr>
              <a:t>inspect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60C59-4E6D-4BB9-A117-C1996425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577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Structural dump only. Authenticity is NOT CHECKED.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74262-CEEB-447A-B7CE-5827E8DE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rPr>
              <a:t>Use --carrier-file to keep the spending secret out of shell history and process listings.</a:t>
            </a:r>
          </a:p>
        </p:txBody>
      </p:sp>
    </p:spTree>
    <p:extLst>
      <p:ext uri="{BB962C8B-B14F-4D97-AF65-F5344CB8AC3E}">
        <p14:creationId xmlns:p14="http://schemas.microsoft.com/office/powerpoint/2010/main" val="10846274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A0FFA4F-0C76-40AC-8BD3-B82B62A4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TRADE-OFFS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E5D3E0-69C3-4365-8170-841063A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24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approach is strong on attribution, weak on delivery guarantees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FA3F6-3C3E-45E2-89BC-10B12B45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5A61B-77B2-4EB3-8E58-98ABEA67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10EBE-2896-49D7-A0F1-BCF52A4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DC9DD-3C25-49C7-90EC-F3EE31D4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350C6-49A7-4657-A8E5-43A747DE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257800" cy="39624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BF40B-D7FD-4DF7-AEE5-17455691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Advantages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E6C25-82A7-44BF-A4A8-33B53CC9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457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461B4-6D83-4126-88C6-D3F4A09F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19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No ledger, transaction, node, fee, or activation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045DA-7774-4CAD-A8F3-886C1AE3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457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FCF0B-BDDE-483A-AED4-59C74A6A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52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3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Proves authorization by the actual input spending secret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6DAC3-8702-4944-8445-38A5BE92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457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A30B6-0E06-4FA7-AE01-7E2DEF85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Binds exact memo bytes to exact offer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C5BAF-88EF-466B-B717-968D1D87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457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5AFB2-47D8-4DA4-A8B2-24F64741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96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No public key or coin attributes disclosed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B5A65-38A7-461C-9306-EC22BF18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966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4575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21FD2-CC7B-4655-9353-4E8EF743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53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Verification is offline and fail-closed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239FE-44B1-4BB5-96CD-2F2BED8E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5257800" cy="39624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C64D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618BE-1375-4AFC-939F-E800240E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EA3A3-4187-4166-912E-91071B5C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D4D"/>
          </a:solidFill>
          <a:ln xmlns:a="http://schemas.openxmlformats.org/drawingml/2006/main" w="9525">
            <a:solidFill>
              <a:srgbClr val="C64D4D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7340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!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ABC06-93C4-465F-ABF1-70721F82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Relays can strip the memo and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5AE25-A382-4478-8675-FF0772E1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D4D"/>
          </a:solidFill>
          <a:ln xmlns:a="http://schemas.openxmlformats.org/drawingml/2006/main" w="9525">
            <a:solidFill>
              <a:srgbClr val="C64D4D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7340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!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A3CBE-7115-4E79-ABAA-C1EB16EA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7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No on-chain delivery, history, revocation, or uniqueness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698A88-B040-4400-A2D0-8AF75A8D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243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D4D"/>
          </a:solidFill>
          <a:ln xmlns:a="http://schemas.openxmlformats.org/drawingml/2006/main" w="9525">
            <a:solidFill>
              <a:srgbClr val="C64D4D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7340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!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75EF01-C723-4D7A-BCF5-822D2C14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Memo plaintext can leak content and writing style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10AF6-9279-44D6-9365-39E02A15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577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D4D"/>
          </a:solidFill>
          <a:ln xmlns:a="http://schemas.openxmlformats.org/drawingml/2006/main" w="9525">
            <a:solidFill>
              <a:srgbClr val="C64D4D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7340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!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AF628-8F6E-4ED7-A0E8-70F21F86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Attestation adds about 5.3 KB plus framing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9D42AB-D358-4AE9-83AF-EBBED8D3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911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D4D"/>
          </a:solidFill>
          <a:ln xmlns:a="http://schemas.openxmlformats.org/drawingml/2006/main" w="9525">
            <a:solidFill>
              <a:srgbClr val="C64D4D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7340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!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559897-7342-4250-BC91-4CC6AFA2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53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Tooling and verifier keys become a distribution surface</a:t>
            </a:r>
          </a:p>
        </p:txBody>
      </p:sp>
    </p:spTree>
    <p:extLst>
      <p:ext uri="{BB962C8B-B14F-4D97-AF65-F5344CB8AC3E}">
        <p14:creationId xmlns:p14="http://schemas.microsoft.com/office/powerpoint/2010/main" val="19584965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2E866119-AA31-4D15-A380-37AA1541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BOUNDARY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018935-42AB-4505-A5E8-C23855AF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What unchanged settlement proves, and what it does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5F9BB-E3F3-409C-9EEA-A2F12101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DFB43-F528-4528-92E0-E9A8E751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4EAA2-A4B2-4D09-B82B-830E1B64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52529-C394-4640-9FC5-7F531DD1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0A328-C7D8-44DF-BC5D-6B47BEFD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190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14288">
            <a:solidFill>
              <a:srgbClr val="24966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Attested offer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39F63-B510-42F9-AF86-3E4DA4E0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62200"/>
            <a:ext cx="20002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Extract exact</a:t>
            </a:r>
          </a:p>
          <a:p xmlns:a="http://schemas.openxmlformats.org/drawingml/2006/main">
            <a:pPr algn="ctr"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offer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32F23-96FD-4E61-A1F7-B3194396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20002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Build normal</a:t>
            </a:r>
          </a:p>
          <a:p xmlns:a="http://schemas.openxmlformats.org/drawingml/2006/main">
            <a:pPr algn="ctr"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transaction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F200C-EFDB-4F55-9CA8-FAAAAD4A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23812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14288">
            <a:solidFill>
              <a:srgbClr val="11141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Unmodified node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57500" y="2809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467350" y="2809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077200" y="2809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47231-D557-4904-9C7A-8C0C7895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rPr>
              <a:t>memo + proof absent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2EB49-ACDB-4396-8F47-2162296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38550"/>
            <a:ext cx="3905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E5F5EF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Validated  →  Applying  →  FINALIZED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3D0DA-84A4-4705-A54C-5B3F6F64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1816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F5EF"/>
          </a:solidFill>
          <a:ln xmlns:a="http://schemas.openxmlformats.org/drawingml/2006/main" w="9525">
            <a:solidFill>
              <a:srgbClr val="2496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D9AEE-347A-45AF-B7D2-DD998089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It demonstrates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8AFA3-2703-4F1A-91C9-C405741E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exact offer and submitted transaction bytes are unchanged, so normal node validation and settlement still apply.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A8F5B-3B4E-4A41-8231-5ECC86FF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4864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B874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65D59-20AF-437F-93ED-72CB961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76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B87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87414"/>
                </a:solidFill>
                <a:latin typeface="Helvetica Neue"/>
                <a:ea typeface="Helvetica Neue"/>
                <a:cs typeface="Helvetica Neue"/>
              </a:rPr>
              <a:t>It does not demonstrate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ED47E-6074-44BD-986D-37E8815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76850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Node awareness of the memo, strip resistance, or interchangeability between the attestation and spend proving backends.</a:t>
            </a:r>
          </a:p>
        </p:txBody>
      </p:sp>
    </p:spTree>
    <p:extLst>
      <p:ext uri="{BB962C8B-B14F-4D97-AF65-F5344CB8AC3E}">
        <p14:creationId xmlns:p14="http://schemas.microsoft.com/office/powerpoint/2010/main" val="15998670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E475215-5568-47F2-86CC-3DBD179D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F9BAC-0CB4-48DF-AF26-E322E54B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6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When attribution matters more than guaranteed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838F4-5040-4A3F-ACFA-F4CE4AE8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C2DC8-66D2-470D-9278-2AC6741A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A8E47-3170-4ACA-BC8C-988553B5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OFF-CHAIN ATTESTED MEMOS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401F8-B0CA-4AFC-9171-1B005C51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06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6059F-5F03-4CE1-B3D5-2014D352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966F"/>
                </a:solidFill>
                <a:latin typeface="Helvetica Neue"/>
                <a:ea typeface="Helvetica Neue"/>
                <a:cs typeface="Helvetica Neue"/>
              </a:rPr>
              <a:t>Use it when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E62D7-D41B-46C8-846E-D0C08D15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• offer files already move off chain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• the recipient can run a verifier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• avoiding a coordinated hard fork matters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• stripping is an explicit, acceptable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60067-5CE3-4485-9215-71E79A46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64D4D"/>
                </a:solidFill>
                <a:latin typeface="Helvetica Neue"/>
                <a:ea typeface="Helvetica Neue"/>
                <a:cs typeface="Helvetica Neue"/>
              </a:rPr>
              <a:t>Do not use it 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DD022-98FE-4F03-82D0-E5B271AC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• proof that a memo was delivered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• proof that no memo was ever sent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• a permanent audit trail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• an identity signature for a person or organization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10A2E-3B1B-4CCB-86DF-EFB3E93E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994410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183251"/>
          </a:solidFill>
          <a:ln xmlns:a="http://schemas.openxmlformats.org/drawingml/2006/main" w="9525">
            <a:solidFill>
              <a:srgbClr val="1832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0BB73-D093-42A9-8692-4869B809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937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proof, one carrier nullifier, one exact memo, one exact offer file.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75D8F-ADAB-474C-B804-7AA03D18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95950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That narrow claim is why the design is useful, reviewable, and deployable without consensus change.</a:t>
            </a:r>
          </a:p>
        </p:txBody>
      </p:sp>
    </p:spTree>
    <p:extLst>
      <p:ext uri="{BB962C8B-B14F-4D97-AF65-F5344CB8AC3E}">
        <p14:creationId xmlns:p14="http://schemas.microsoft.com/office/powerpoint/2010/main" val="623141661"/>
      </p:ext>
    </p:extLst>
  </p:cSld>
</p:sld>
</file>

<file path=ppt/theme/theme1.xml><?xml version="1.0" encoding="utf-8"?>
<a:theme xmlns:a="http://schemas.openxmlformats.org/drawingml/2006/main" name="ChatGPT">
  <a:themeElements>
    <a:clrScheme name="Codex Grid">
      <a:dk1>
        <a:srgbClr val="111418"/>
      </a:dk1>
      <a:lt1>
        <a:srgbClr val="FFFFFF"/>
      </a:lt1>
      <a:dk2>
        <a:srgbClr val="183251"/>
      </a:dk2>
      <a:lt2>
        <a:srgbClr val="EDEDED"/>
      </a:lt2>
      <a:accent1>
        <a:srgbClr val="3D8DFF"/>
      </a:accent1>
      <a:accent2>
        <a:srgbClr val="6DCBF4"/>
      </a:accent2>
      <a:accent3>
        <a:srgbClr val="24966F"/>
      </a:accent3>
      <a:accent4>
        <a:srgbClr val="B87414"/>
      </a:accent4>
      <a:accent5>
        <a:srgbClr val="C64D4D"/>
      </a:accent5>
      <a:accent6>
        <a:srgbClr val="183251"/>
      </a:accent6>
      <a:hlink>
        <a:srgbClr val="3D8DFF"/>
      </a:hlink>
      <a:folHlink>
        <a:srgbClr val="18325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2026-08-21T05:54:39.4200000Z</dcterms:created>
  <dcterms:modified xsi:type="dcterms:W3CDTF">2026-08-21T05:54:39.4200000Z</dcterms:modified>
</coreProperties>
</file>